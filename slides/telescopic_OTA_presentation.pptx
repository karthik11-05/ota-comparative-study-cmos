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1565" y="9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004"/>
            <a:ext cx="13430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14890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16556"/>
            <a:ext cx="2914015" cy="1075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2523" y="3311459"/>
            <a:ext cx="252729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575538"/>
            <a:ext cx="4483735" cy="972185"/>
            <a:chOff x="87743" y="575538"/>
            <a:chExt cx="4483735" cy="972185"/>
          </a:xfrm>
          <a:solidFill>
            <a:schemeClr val="accent4">
              <a:lumMod val="75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87743" y="57553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638799"/>
              <a:ext cx="4432935" cy="908685"/>
            </a:xfrm>
            <a:custGeom>
              <a:avLst/>
              <a:gdLst/>
              <a:ahLst/>
              <a:cxnLst/>
              <a:rect l="l" t="t" r="r" b="b"/>
              <a:pathLst>
                <a:path w="4432935" h="908685">
                  <a:moveTo>
                    <a:pt x="4432567" y="0"/>
                  </a:moveTo>
                  <a:lnTo>
                    <a:pt x="0" y="0"/>
                  </a:lnTo>
                  <a:lnTo>
                    <a:pt x="0" y="908327"/>
                  </a:lnTo>
                  <a:lnTo>
                    <a:pt x="4432567" y="908327"/>
                  </a:lnTo>
                  <a:lnTo>
                    <a:pt x="4432567" y="0"/>
                  </a:ln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619963"/>
              <a:ext cx="4432935" cy="876935"/>
            </a:xfrm>
            <a:custGeom>
              <a:avLst/>
              <a:gdLst/>
              <a:ahLst/>
              <a:cxnLst/>
              <a:rect l="l" t="t" r="r" b="b"/>
              <a:pathLst>
                <a:path w="4432935" h="876935">
                  <a:moveTo>
                    <a:pt x="4432567" y="0"/>
                  </a:moveTo>
                  <a:lnTo>
                    <a:pt x="0" y="0"/>
                  </a:lnTo>
                  <a:lnTo>
                    <a:pt x="0" y="825563"/>
                  </a:lnTo>
                  <a:lnTo>
                    <a:pt x="4008" y="845288"/>
                  </a:lnTo>
                  <a:lnTo>
                    <a:pt x="14922" y="861441"/>
                  </a:lnTo>
                  <a:lnTo>
                    <a:pt x="31075" y="872355"/>
                  </a:lnTo>
                  <a:lnTo>
                    <a:pt x="50800" y="876363"/>
                  </a:lnTo>
                  <a:lnTo>
                    <a:pt x="4381766" y="876363"/>
                  </a:lnTo>
                  <a:lnTo>
                    <a:pt x="4401491" y="872355"/>
                  </a:lnTo>
                  <a:lnTo>
                    <a:pt x="4417644" y="861441"/>
                  </a:lnTo>
                  <a:lnTo>
                    <a:pt x="4428558" y="845288"/>
                  </a:lnTo>
                  <a:lnTo>
                    <a:pt x="4432567" y="825563"/>
                  </a:lnTo>
                  <a:lnTo>
                    <a:pt x="4432567" y="0"/>
                  </a:ln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5018" y="681873"/>
            <a:ext cx="4058285" cy="44082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6700"/>
              </a:lnSpc>
              <a:spcBef>
                <a:spcPts val="20"/>
              </a:spcBef>
            </a:pPr>
            <a:r>
              <a:rPr spc="-35" dirty="0"/>
              <a:t>Design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10" dirty="0"/>
              <a:t> </a:t>
            </a:r>
            <a:r>
              <a:rPr spc="-25" dirty="0"/>
              <a:t>Analysis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lang="en-IN" spc="-55" dirty="0"/>
              <a:t>Telescopic OTA</a:t>
            </a:r>
            <a:endParaRPr spc="-10" dirty="0"/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endParaRPr sz="11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1756" y="1689834"/>
            <a:ext cx="2684326" cy="9348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tabLst>
                <a:tab pos="1467485" algn="l"/>
              </a:tabLst>
            </a:pPr>
            <a:r>
              <a:rPr lang="en-IN" sz="1100" spc="-10" dirty="0" err="1">
                <a:latin typeface="Tahoma"/>
                <a:cs typeface="Tahoma"/>
              </a:rPr>
              <a:t>Daivik</a:t>
            </a:r>
            <a:r>
              <a:rPr lang="en-IN" sz="1100" spc="-10" dirty="0">
                <a:latin typeface="Tahoma"/>
                <a:cs typeface="Tahoma"/>
              </a:rPr>
              <a:t> I Vinayaka            Karthik K Prasad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r>
              <a:rPr lang="en-IN" sz="1100" dirty="0">
                <a:latin typeface="Tahoma"/>
                <a:cs typeface="Tahoma"/>
              </a:rPr>
              <a:t>   </a:t>
            </a:r>
            <a:r>
              <a:rPr lang="en-IN" sz="1100">
                <a:latin typeface="Tahoma"/>
                <a:cs typeface="Tahoma"/>
              </a:rPr>
              <a:t>4NI23EC023                    4NI23EC039</a:t>
            </a:r>
            <a:endParaRPr sz="1100" dirty="0">
              <a:latin typeface="Tahoma"/>
              <a:cs typeface="Tahoma"/>
            </a:endParaRPr>
          </a:p>
          <a:p>
            <a:pPr marL="75565" marR="67945" algn="ctr">
              <a:lnSpc>
                <a:spcPts val="950"/>
              </a:lnSpc>
            </a:pPr>
            <a:endParaRPr lang="en-IN" sz="800" dirty="0">
              <a:latin typeface="Tahoma"/>
              <a:cs typeface="Tahoma"/>
            </a:endParaRPr>
          </a:p>
          <a:p>
            <a:pPr marL="75565" marR="67945" algn="ctr">
              <a:lnSpc>
                <a:spcPts val="950"/>
              </a:lnSpc>
            </a:pPr>
            <a:r>
              <a:rPr sz="800" dirty="0">
                <a:latin typeface="Tahoma"/>
                <a:cs typeface="Tahoma"/>
              </a:rPr>
              <a:t>Department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Electronics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Communication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Engineering </a:t>
            </a:r>
            <a:r>
              <a:rPr sz="800" dirty="0">
                <a:latin typeface="Tahoma"/>
                <a:cs typeface="Tahoma"/>
              </a:rPr>
              <a:t>National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Institute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Engineering,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Mysuru</a:t>
            </a:r>
            <a:endParaRPr sz="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932" y="1109127"/>
            <a:ext cx="3922395" cy="12154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GB" sz="1100" dirty="0"/>
              <a:t>A </a:t>
            </a:r>
            <a:r>
              <a:rPr lang="en-GB" sz="1100" b="1" dirty="0"/>
              <a:t>Telescopic CMOS Operational Transconductance Amplifier (OTA)</a:t>
            </a:r>
            <a:r>
              <a:rPr lang="en-GB" sz="1100" dirty="0"/>
              <a:t> is a high-gain, single-stage </a:t>
            </a:r>
            <a:r>
              <a:rPr lang="en-GB" sz="1100" dirty="0" err="1"/>
              <a:t>analog</a:t>
            </a:r>
            <a:r>
              <a:rPr lang="en-GB" sz="1100" dirty="0"/>
              <a:t> amplifier topology widely used in low-power and high-speed </a:t>
            </a:r>
            <a:r>
              <a:rPr lang="en-GB" sz="1100" dirty="0" err="1"/>
              <a:t>analog</a:t>
            </a:r>
            <a:r>
              <a:rPr lang="en-GB" sz="1100" dirty="0"/>
              <a:t> circuit applications. It belongs to the family of </a:t>
            </a:r>
            <a:r>
              <a:rPr lang="en-GB" sz="1100" b="1" dirty="0" err="1"/>
              <a:t>cascode</a:t>
            </a:r>
            <a:r>
              <a:rPr lang="en-GB" sz="1100" b="1" dirty="0"/>
              <a:t> amplifiers</a:t>
            </a:r>
            <a:r>
              <a:rPr lang="en-GB" sz="1100" dirty="0"/>
              <a:t>, where transistors are stacked vertically to enhance </a:t>
            </a:r>
            <a:r>
              <a:rPr lang="en-GB" sz="1100" b="1" dirty="0"/>
              <a:t>output resistance</a:t>
            </a:r>
            <a:r>
              <a:rPr lang="en-GB" sz="1100" dirty="0"/>
              <a:t> and </a:t>
            </a:r>
            <a:r>
              <a:rPr lang="en-GB" sz="1100" b="1" dirty="0"/>
              <a:t>gain</a:t>
            </a:r>
            <a:r>
              <a:rPr lang="en-GB" sz="1100" dirty="0"/>
              <a:t>, resembling the structure of a telescope—hence the name </a:t>
            </a:r>
            <a:r>
              <a:rPr lang="en-GB" sz="1100" i="1" dirty="0"/>
              <a:t>"telescopic."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2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/>
              <a:t>Objectives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3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5EA1E5B-B4A4-DB59-A794-71402C8AC947}"/>
              </a:ext>
            </a:extLst>
          </p:cNvPr>
          <p:cNvSpPr/>
          <p:nvPr/>
        </p:nvSpPr>
        <p:spPr>
          <a:xfrm>
            <a:off x="849515" y="918857"/>
            <a:ext cx="2909570" cy="0"/>
          </a:xfrm>
          <a:custGeom>
            <a:avLst/>
            <a:gdLst/>
            <a:ahLst/>
            <a:cxnLst/>
            <a:rect l="l" t="t" r="r" b="b"/>
            <a:pathLst>
              <a:path w="2909570">
                <a:moveTo>
                  <a:pt x="0" y="0"/>
                </a:moveTo>
                <a:lnTo>
                  <a:pt x="2908960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3A792CAA-41D2-9AB9-228F-58063130E073}"/>
              </a:ext>
            </a:extLst>
          </p:cNvPr>
          <p:cNvSpPr txBox="1"/>
          <p:nvPr/>
        </p:nvSpPr>
        <p:spPr>
          <a:xfrm>
            <a:off x="912736" y="933588"/>
            <a:ext cx="680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>
                <a:latin typeface="Arial Black"/>
                <a:cs typeface="Arial Black"/>
              </a:rPr>
              <a:t>Parameter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CC96FCE3-4EF4-1796-AFE7-A36A832EB47F}"/>
              </a:ext>
            </a:extLst>
          </p:cNvPr>
          <p:cNvSpPr txBox="1"/>
          <p:nvPr/>
        </p:nvSpPr>
        <p:spPr>
          <a:xfrm>
            <a:off x="2419578" y="933588"/>
            <a:ext cx="379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5">
                <a:latin typeface="Arial Black"/>
                <a:cs typeface="Arial Black"/>
              </a:rPr>
              <a:t>Value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0DEC58CF-E29A-2612-3FA6-6DCABEAE0B7F}"/>
              </a:ext>
            </a:extLst>
          </p:cNvPr>
          <p:cNvSpPr/>
          <p:nvPr/>
        </p:nvSpPr>
        <p:spPr>
          <a:xfrm>
            <a:off x="849515" y="1164526"/>
            <a:ext cx="2909570" cy="0"/>
          </a:xfrm>
          <a:custGeom>
            <a:avLst/>
            <a:gdLst/>
            <a:ahLst/>
            <a:cxnLst/>
            <a:rect l="l" t="t" r="r" b="b"/>
            <a:pathLst>
              <a:path w="2909570">
                <a:moveTo>
                  <a:pt x="0" y="0"/>
                </a:moveTo>
                <a:lnTo>
                  <a:pt x="2908960" y="0"/>
                </a:lnTo>
              </a:path>
            </a:pathLst>
          </a:custGeom>
          <a:ln w="6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49DC5587-0DA7-EC79-20AE-C2FA4F4B4F36}"/>
              </a:ext>
            </a:extLst>
          </p:cNvPr>
          <p:cNvSpPr txBox="1"/>
          <p:nvPr/>
        </p:nvSpPr>
        <p:spPr>
          <a:xfrm>
            <a:off x="887336" y="1177187"/>
            <a:ext cx="1431290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511809">
              <a:lnSpc>
                <a:spcPct val="102600"/>
              </a:lnSpc>
              <a:spcBef>
                <a:spcPts val="55"/>
              </a:spcBef>
            </a:pPr>
            <a:r>
              <a:rPr sz="1100" spc="-25">
                <a:latin typeface="Tahoma"/>
                <a:cs typeface="Tahoma"/>
              </a:rPr>
              <a:t>Supply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40">
                <a:latin typeface="Tahoma"/>
                <a:cs typeface="Tahoma"/>
              </a:rPr>
              <a:t>Voltage </a:t>
            </a:r>
            <a:r>
              <a:rPr sz="1100">
                <a:latin typeface="Tahoma"/>
                <a:cs typeface="Tahoma"/>
              </a:rPr>
              <a:t>DC</a:t>
            </a:r>
            <a:r>
              <a:rPr sz="1100" spc="8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Gain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</a:pPr>
            <a:r>
              <a:rPr sz="1100" spc="-40">
                <a:latin typeface="Tahoma"/>
                <a:cs typeface="Tahoma"/>
              </a:rPr>
              <a:t>Transconductance</a:t>
            </a:r>
            <a:r>
              <a:rPr sz="1100" spc="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(</a:t>
            </a:r>
            <a:r>
              <a:rPr sz="1100" i="1" spc="-20">
                <a:latin typeface="Arial"/>
                <a:cs typeface="Arial"/>
              </a:rPr>
              <a:t>g</a:t>
            </a:r>
            <a:r>
              <a:rPr sz="1200" i="1" spc="-30" baseline="-10416">
                <a:latin typeface="Franklin Gothic Medium"/>
                <a:cs typeface="Franklin Gothic Medium"/>
              </a:rPr>
              <a:t>m</a:t>
            </a:r>
            <a:r>
              <a:rPr sz="1100" spc="-20">
                <a:latin typeface="Tahoma"/>
                <a:cs typeface="Tahoma"/>
              </a:rPr>
              <a:t>) </a:t>
            </a:r>
            <a:r>
              <a:rPr sz="1100">
                <a:latin typeface="Tahoma"/>
                <a:cs typeface="Tahoma"/>
              </a:rPr>
              <a:t>Unity</a:t>
            </a:r>
            <a:r>
              <a:rPr sz="1100" spc="-6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Gain</a:t>
            </a:r>
            <a:r>
              <a:rPr sz="1100" spc="-6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Bandwidth </a:t>
            </a:r>
            <a:r>
              <a:rPr sz="1100" spc="-25">
                <a:latin typeface="Tahoma"/>
                <a:cs typeface="Tahoma"/>
              </a:rPr>
              <a:t>Phase</a:t>
            </a:r>
            <a:r>
              <a:rPr sz="1100" spc="-6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Margin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55">
                <a:latin typeface="Tahoma"/>
                <a:cs typeface="Tahoma"/>
              </a:rPr>
              <a:t>Power</a:t>
            </a:r>
            <a:r>
              <a:rPr sz="110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Consumption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180C10CA-C894-9032-0FF6-FF251E49E0D0}"/>
              </a:ext>
            </a:extLst>
          </p:cNvPr>
          <p:cNvSpPr txBox="1"/>
          <p:nvPr/>
        </p:nvSpPr>
        <p:spPr>
          <a:xfrm>
            <a:off x="2394052" y="1177187"/>
            <a:ext cx="1320800" cy="10631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3.</a:t>
            </a:r>
            <a:r>
              <a:rPr lang="en-IN" sz="1100" spc="-35" dirty="0">
                <a:latin typeface="Tahoma"/>
                <a:cs typeface="Tahoma"/>
              </a:rPr>
              <a:t>0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V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55" dirty="0">
                <a:latin typeface="Tahoma"/>
                <a:cs typeface="Tahoma"/>
              </a:rPr>
              <a:t>50–70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dB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Set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200" spc="-15" baseline="-13888" dirty="0">
                <a:latin typeface="Tahoma"/>
                <a:cs typeface="Tahoma"/>
              </a:rPr>
              <a:t>BIAS</a:t>
            </a:r>
            <a:endParaRPr sz="1200" baseline="-13888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Determined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g</a:t>
            </a:r>
            <a:r>
              <a:rPr sz="1200" i="1" spc="-30" baseline="-10416" dirty="0">
                <a:latin typeface="Franklin Gothic Medium"/>
                <a:cs typeface="Franklin Gothic Medium"/>
              </a:rPr>
              <a:t>m</a:t>
            </a:r>
            <a:r>
              <a:rPr sz="1100" i="1" spc="-20" dirty="0">
                <a:latin typeface="Calibri"/>
                <a:cs typeface="Calibri"/>
              </a:rPr>
              <a:t>/</a:t>
            </a:r>
            <a:r>
              <a:rPr sz="1100" i="1" spc="-20" dirty="0" err="1">
                <a:latin typeface="Arial"/>
                <a:cs typeface="Arial"/>
              </a:rPr>
              <a:t>C</a:t>
            </a:r>
            <a:r>
              <a:rPr sz="1200" i="1" spc="-30" baseline="-13888" dirty="0" err="1">
                <a:latin typeface="Franklin Gothic Medium"/>
                <a:cs typeface="Franklin Gothic Medium"/>
              </a:rPr>
              <a:t>f</a:t>
            </a:r>
            <a:endParaRPr sz="1200" baseline="-13888" dirty="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55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60</a:t>
            </a:r>
            <a:r>
              <a:rPr sz="1200" i="1" spc="-37" baseline="27777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◦</a:t>
            </a:r>
            <a:r>
              <a:rPr lang="en-IN" sz="1200" i="1" spc="-37" baseline="27777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lang="en-IN" sz="2000" baseline="27777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10mA</a:t>
            </a:r>
            <a:endParaRPr sz="2000" baseline="27777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338A3C05-D6FF-CC63-879E-7B58B0100701}"/>
              </a:ext>
            </a:extLst>
          </p:cNvPr>
          <p:cNvSpPr/>
          <p:nvPr/>
        </p:nvSpPr>
        <p:spPr>
          <a:xfrm>
            <a:off x="849515" y="2270569"/>
            <a:ext cx="2909570" cy="0"/>
          </a:xfrm>
          <a:custGeom>
            <a:avLst/>
            <a:gdLst/>
            <a:ahLst/>
            <a:cxnLst/>
            <a:rect l="l" t="t" r="r" b="b"/>
            <a:pathLst>
              <a:path w="2909570">
                <a:moveTo>
                  <a:pt x="0" y="0"/>
                </a:moveTo>
                <a:lnTo>
                  <a:pt x="2908960" y="0"/>
                </a:lnTo>
              </a:path>
            </a:pathLst>
          </a:custGeom>
          <a:ln w="110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7E44ED85-B95A-05A8-D217-9E8FB573B30A}"/>
              </a:ext>
            </a:extLst>
          </p:cNvPr>
          <p:cNvSpPr txBox="1"/>
          <p:nvPr/>
        </p:nvSpPr>
        <p:spPr>
          <a:xfrm>
            <a:off x="1020356" y="2328702"/>
            <a:ext cx="2567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>
                <a:solidFill>
                  <a:srgbClr val="3333B2"/>
                </a:solidFill>
                <a:latin typeface="Tahoma"/>
                <a:cs typeface="Tahoma"/>
              </a:rPr>
              <a:t>Table:</a:t>
            </a:r>
            <a:r>
              <a:rPr sz="1000" spc="-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spc="-30">
                <a:latin typeface="Tahoma"/>
                <a:cs typeface="Tahoma"/>
              </a:rPr>
              <a:t>Target</a:t>
            </a:r>
            <a:r>
              <a:rPr sz="1000">
                <a:latin typeface="Tahoma"/>
                <a:cs typeface="Tahoma"/>
              </a:rPr>
              <a:t> </a:t>
            </a:r>
            <a:r>
              <a:rPr sz="1000" spc="-30">
                <a:latin typeface="Tahoma"/>
                <a:cs typeface="Tahoma"/>
              </a:rPr>
              <a:t>specifications</a:t>
            </a:r>
            <a:r>
              <a:rPr sz="1000">
                <a:latin typeface="Tahoma"/>
                <a:cs typeface="Tahoma"/>
              </a:rPr>
              <a:t> </a:t>
            </a:r>
            <a:r>
              <a:rPr sz="1000" spc="-10">
                <a:latin typeface="Tahoma"/>
                <a:cs typeface="Tahoma"/>
              </a:rPr>
              <a:t>for</a:t>
            </a:r>
            <a:r>
              <a:rPr sz="1000" spc="-5">
                <a:latin typeface="Tahoma"/>
                <a:cs typeface="Tahoma"/>
              </a:rPr>
              <a:t> </a:t>
            </a:r>
            <a:r>
              <a:rPr sz="1000" spc="-20">
                <a:latin typeface="Tahoma"/>
                <a:cs typeface="Tahoma"/>
              </a:rPr>
              <a:t>the</a:t>
            </a:r>
            <a:r>
              <a:rPr sz="1000">
                <a:latin typeface="Tahoma"/>
                <a:cs typeface="Tahoma"/>
              </a:rPr>
              <a:t> OTA </a:t>
            </a:r>
            <a:r>
              <a:rPr sz="1000" spc="-25">
                <a:latin typeface="Tahoma"/>
                <a:cs typeface="Tahoma"/>
              </a:rPr>
              <a:t>design.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890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endParaRPr spc="-15" dirty="0"/>
          </a:p>
        </p:txBody>
      </p:sp>
      <p:sp>
        <p:nvSpPr>
          <p:cNvPr id="3" name="object 3"/>
          <p:cNvSpPr/>
          <p:nvPr/>
        </p:nvSpPr>
        <p:spPr>
          <a:xfrm>
            <a:off x="88582" y="409888"/>
            <a:ext cx="4432935" cy="203200"/>
          </a:xfrm>
          <a:custGeom>
            <a:avLst/>
            <a:gdLst/>
            <a:ahLst/>
            <a:cxnLst/>
            <a:rect l="l" t="t" r="r" b="b"/>
            <a:pathLst>
              <a:path w="4432935" h="20320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091"/>
                </a:lnTo>
                <a:lnTo>
                  <a:pt x="4432567" y="203091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450" y="390838"/>
            <a:ext cx="14129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lang="en-IN" sz="1200" spc="-50" dirty="0">
                <a:solidFill>
                  <a:srgbClr val="FFFFFF"/>
                </a:solidFill>
                <a:latin typeface="Tahoma"/>
                <a:cs typeface="Tahoma"/>
              </a:rPr>
              <a:t>Design specifications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693" y="1249913"/>
            <a:ext cx="53340" cy="499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693" y="613088"/>
            <a:ext cx="3769995" cy="15305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rtl="0"/>
            <a:r>
              <a:rPr lang="en-IN" sz="1100" dirty="0"/>
              <a:t>DC Gain: 20 dB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UGB: 1.2 GHz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Phase Margin: ~60°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Load Capacitance: 1 pF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Supply Voltage: ±1.8 V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Power Consumption: ~300 µW</a:t>
            </a:r>
            <a:endParaRPr lang="en-IN" sz="1100" b="0" dirty="0">
              <a:effectLst/>
            </a:endParaRPr>
          </a:p>
          <a:p>
            <a:pPr rtl="0"/>
            <a:r>
              <a:rPr lang="en-IN" sz="1100" dirty="0"/>
              <a:t>       Technology: 180 nm CMOS</a:t>
            </a:r>
            <a:endParaRPr lang="en-IN" sz="1100" b="0" dirty="0">
              <a:effectLst/>
            </a:endParaRPr>
          </a:p>
          <a:p>
            <a:br>
              <a:rPr lang="en-IN" sz="1100" dirty="0"/>
            </a:br>
            <a:endParaRPr sz="11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4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5300" y="60004"/>
            <a:ext cx="1343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45"/>
              <a:t>Circuit</a:t>
            </a:r>
            <a:r>
              <a:rPr spc="45"/>
              <a:t> </a:t>
            </a:r>
            <a:r>
              <a:rPr spc="-3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450" y="2339975"/>
            <a:ext cx="3314700" cy="9243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95"/>
              </a:spcBef>
            </a:pPr>
            <a:r>
              <a:rPr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sz="1000" spc="1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IN" sz="1000" spc="10">
                <a:solidFill>
                  <a:schemeClr val="tx1"/>
                </a:solidFill>
                <a:latin typeface="Tahoma"/>
                <a:cs typeface="Tahoma"/>
              </a:rPr>
              <a:t>Circuit</a:t>
            </a:r>
            <a:r>
              <a:rPr sz="1000" spc="15">
                <a:latin typeface="Tahoma"/>
                <a:cs typeface="Tahoma"/>
              </a:rPr>
              <a:t> </a:t>
            </a:r>
            <a:r>
              <a:rPr sz="1000" spc="-30">
                <a:latin typeface="Tahoma"/>
                <a:cs typeface="Tahoma"/>
              </a:rPr>
              <a:t>diagram</a:t>
            </a:r>
            <a:r>
              <a:rPr sz="1000" spc="15">
                <a:latin typeface="Tahoma"/>
                <a:cs typeface="Tahoma"/>
              </a:rPr>
              <a:t> </a:t>
            </a:r>
            <a:r>
              <a:rPr sz="1000">
                <a:latin typeface="Tahoma"/>
                <a:cs typeface="Tahoma"/>
              </a:rPr>
              <a:t>of</a:t>
            </a:r>
            <a:r>
              <a:rPr sz="1000" spc="15">
                <a:latin typeface="Tahoma"/>
                <a:cs typeface="Tahoma"/>
              </a:rPr>
              <a:t> </a:t>
            </a:r>
            <a:r>
              <a:rPr sz="1000" spc="-20">
                <a:latin typeface="Tahoma"/>
                <a:cs typeface="Tahoma"/>
              </a:rPr>
              <a:t>the</a:t>
            </a:r>
            <a:r>
              <a:rPr sz="1000" spc="15">
                <a:latin typeface="Tahoma"/>
                <a:cs typeface="Tahoma"/>
              </a:rPr>
              <a:t> </a:t>
            </a:r>
            <a:r>
              <a:rPr sz="1000" spc="-55">
                <a:latin typeface="Tahoma"/>
                <a:cs typeface="Tahoma"/>
              </a:rPr>
              <a:t>two-</a:t>
            </a:r>
            <a:r>
              <a:rPr sz="1000" spc="-45">
                <a:latin typeface="Tahoma"/>
                <a:cs typeface="Tahoma"/>
              </a:rPr>
              <a:t>stage</a:t>
            </a:r>
            <a:r>
              <a:rPr sz="1000" spc="10">
                <a:latin typeface="Tahoma"/>
                <a:cs typeface="Tahoma"/>
              </a:rPr>
              <a:t> </a:t>
            </a:r>
            <a:r>
              <a:rPr sz="1000">
                <a:latin typeface="Tahoma"/>
                <a:cs typeface="Tahoma"/>
              </a:rPr>
              <a:t>CMOS</a:t>
            </a:r>
            <a:r>
              <a:rPr sz="1000" spc="15">
                <a:latin typeface="Tahoma"/>
                <a:cs typeface="Tahoma"/>
              </a:rPr>
              <a:t> </a:t>
            </a:r>
            <a:r>
              <a:rPr sz="1000" spc="-20">
                <a:latin typeface="Tahoma"/>
                <a:cs typeface="Tahoma"/>
              </a:rPr>
              <a:t>OTA.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Tahoma"/>
              <a:cs typeface="Tahoma"/>
            </a:endParaRPr>
          </a:p>
          <a:p>
            <a:pPr marL="12700" marR="125730">
              <a:lnSpc>
                <a:spcPct val="125299"/>
              </a:lnSpc>
            </a:pPr>
            <a:r>
              <a:rPr sz="1100" spc="-25">
                <a:latin typeface="Tahoma"/>
                <a:cs typeface="Tahoma"/>
              </a:rPr>
              <a:t>Differential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input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to </a:t>
            </a:r>
            <a:r>
              <a:rPr sz="1100" spc="-60">
                <a:latin typeface="Tahoma"/>
                <a:cs typeface="Tahoma"/>
              </a:rPr>
              <a:t>single-</a:t>
            </a:r>
            <a:r>
              <a:rPr sz="1100" spc="-65">
                <a:latin typeface="Tahoma"/>
                <a:cs typeface="Tahoma"/>
              </a:rPr>
              <a:t>ended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output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conversion. </a:t>
            </a:r>
            <a:r>
              <a:rPr sz="1100">
                <a:latin typeface="Tahoma"/>
                <a:cs typeface="Tahoma"/>
              </a:rPr>
              <a:t>Miller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capacitor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connects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intermediate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node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to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output.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5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88E0C-247A-8471-47ED-FD7A7255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57889"/>
            <a:ext cx="2686050" cy="195757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Working</a:t>
            </a:r>
            <a:r>
              <a:rPr spc="-40"/>
              <a:t> </a:t>
            </a:r>
            <a:r>
              <a:rPr spc="-10"/>
              <a:t>Principle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6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51E115B-6419-4234-AF13-E1C92AFFD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46" y="1101164"/>
            <a:ext cx="4366008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Differential Input Pair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Current Steering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Cascoding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Gain Boosting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Output Impedance and Gain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890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</a:t>
            </a:r>
            <a:r>
              <a:rPr lang="en-IN" spc="-35" dirty="0"/>
              <a:t>sign </a:t>
            </a:r>
            <a:endParaRPr spc="-4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7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EF0B12-866E-209D-E4EF-E3109B9495F3}"/>
              </a:ext>
            </a:extLst>
          </p:cNvPr>
          <p:cNvSpPr txBox="1"/>
          <p:nvPr/>
        </p:nvSpPr>
        <p:spPr>
          <a:xfrm>
            <a:off x="95300" y="511731"/>
            <a:ext cx="41147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IN" sz="1000" dirty="0"/>
              <a:t>2(VDD - |Vov7| - |Vov5| -  Vov3 - Vov1 - Vov9</a:t>
            </a:r>
            <a:endParaRPr lang="en-IN" sz="1000" b="0" dirty="0">
              <a:effectLst/>
            </a:endParaRP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(W/L)9 = 400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(W/L)1-4 = 1250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(W/L)5-8 = 1111.1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pl-PL" sz="1000" dirty="0"/>
              <a:t>Av = gm1,2[gm3ro3.ro1||gm5ro5.ro7]</a:t>
            </a:r>
            <a:endParaRPr lang="pl-PL" sz="1000" b="0" dirty="0">
              <a:effectLst/>
            </a:endParaRP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gm1-4 = 15mA/V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ro1-4 = 6.66k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gm5-8 = 10mA/V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pl-PL" sz="1000" dirty="0"/>
              <a:t>ro5-8 = 3.33k</a:t>
            </a:r>
          </a:p>
          <a:p>
            <a:br>
              <a:rPr lang="en-IN" sz="1200" dirty="0"/>
            </a:br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4890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/>
              <a:t>Results</a:t>
            </a:r>
            <a:endParaRPr spc="-25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8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7F244-F872-012B-11F9-76F056C9B5D8}"/>
              </a:ext>
            </a:extLst>
          </p:cNvPr>
          <p:cNvSpPr txBox="1"/>
          <p:nvPr/>
        </p:nvSpPr>
        <p:spPr>
          <a:xfrm>
            <a:off x="1362378" y="1706901"/>
            <a:ext cx="329869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l">
              <a:buFont typeface="Arial"/>
              <a:buChar char="•"/>
            </a:pPr>
            <a:r>
              <a:rPr lang="en-US" sz="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The tail current source (I1) supplies a bias current of 10 </a:t>
            </a:r>
            <a:r>
              <a:rPr lang="en-US" sz="80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μA</a:t>
            </a:r>
            <a:r>
              <a:rPr lang="en-US" sz="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which is symmetrically split across the differential pair transistors M1 and M2, each drawing approximately 5.05 </a:t>
            </a:r>
            <a:r>
              <a:rPr lang="en-US" sz="80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μA</a:t>
            </a:r>
            <a:r>
              <a:rPr lang="en-US" sz="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confirming balanced operation. The common-source node of the differential pair (M5 drain) sits at a potential of 1.251 V.</a:t>
            </a:r>
            <a:r>
              <a:rPr lang="en-US" sz="800" dirty="0"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The drain current of M6 is 10.27 </a:t>
            </a:r>
            <a:r>
              <a:rPr lang="en-US" sz="80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μA</a:t>
            </a:r>
            <a:r>
              <a:rPr lang="en-US" sz="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, showing that it carries the entire signal path current through the load branch. </a:t>
            </a:r>
          </a:p>
          <a:p>
            <a:pPr marL="171450" indent="-171450" algn="l">
              <a:buFont typeface="Arial"/>
              <a:buChar char="•"/>
            </a:pPr>
            <a:r>
              <a:rPr lang="en-US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small-signal AC analysis of the fully differential amplifier reveals a 3 dB gain of approximately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54.01</a:t>
            </a:r>
            <a:r>
              <a:rPr lang="en-US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dB</a:t>
            </a:r>
            <a:r>
              <a:rPr lang="en-US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corresponding to a voltage gain of 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501</a:t>
            </a:r>
            <a:r>
              <a:rPr lang="en-US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3 dB bandwidth occurs beyond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43.19 kHz</a:t>
            </a:r>
            <a:r>
              <a:rPr lang="en-US" sz="800" dirty="0">
                <a:effectLst/>
                <a:latin typeface="Times New Roman" panose="02020603050405020304" pitchFamily="18" charset="0"/>
                <a:ea typeface="Gungsuh" panose="02030600000101010101" pitchFamily="18" charset="-127"/>
              </a:rPr>
              <a:t>, indicating that the amplifier maintains a high gain up to this frequency.</a:t>
            </a:r>
          </a:p>
          <a:p>
            <a:pPr marL="171450" indent="-171450" algn="l">
              <a:buFont typeface="Arial"/>
              <a:buChar char="•"/>
            </a:pPr>
            <a:r>
              <a:rPr lang="en-US" sz="800">
                <a:effectLst/>
                <a:latin typeface="Times New Roman" panose="02020603050405020304" pitchFamily="18" charset="0"/>
                <a:ea typeface="Gungsuh" panose="02030600000101010101" pitchFamily="18" charset="-127"/>
              </a:rPr>
              <a:t>The </a:t>
            </a:r>
            <a:r>
              <a:rPr lang="en-US" sz="800" dirty="0">
                <a:effectLst/>
                <a:latin typeface="Times New Roman" panose="02020603050405020304" pitchFamily="18" charset="0"/>
                <a:ea typeface="Gungsuh" panose="02030600000101010101" pitchFamily="18" charset="-127"/>
              </a:rPr>
              <a:t>observed roll-off rate beyond the cutoff frequency is approximately −20 dB/decade.</a:t>
            </a:r>
            <a:endParaRPr lang="en-IN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687BB9-27C3-42FA-ABB7-E171A6E10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7" y="493874"/>
            <a:ext cx="1259271" cy="24938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DF8346-9877-49BA-9066-5B8421573A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9484" y="432220"/>
            <a:ext cx="2544486" cy="12232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43838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02932" y="1116556"/>
            <a:ext cx="2914015" cy="1224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7005">
              <a:lnSpc>
                <a:spcPct val="125299"/>
              </a:lnSpc>
              <a:spcBef>
                <a:spcPts val="100"/>
              </a:spcBef>
            </a:pPr>
            <a:r>
              <a:rPr spc="-40" dirty="0"/>
              <a:t>Switched-</a:t>
            </a:r>
            <a:r>
              <a:rPr spc="-30" dirty="0"/>
              <a:t>capacitor</a:t>
            </a:r>
            <a:r>
              <a:rPr spc="60" dirty="0"/>
              <a:t> </a:t>
            </a:r>
            <a:r>
              <a:rPr spc="-35" dirty="0"/>
              <a:t>filters </a:t>
            </a:r>
            <a:r>
              <a:rPr lang="en-IN" sz="1000" dirty="0"/>
              <a:t>Comparator Preamplifiers</a:t>
            </a:r>
          </a:p>
          <a:p>
            <a:pPr marL="12700" marR="1437005">
              <a:lnSpc>
                <a:spcPct val="125299"/>
              </a:lnSpc>
              <a:spcBef>
                <a:spcPts val="100"/>
              </a:spcBef>
            </a:pPr>
            <a:r>
              <a:rPr lang="en-IN" sz="1000" dirty="0"/>
              <a:t>P</a:t>
            </a:r>
            <a:r>
              <a:rPr lang="en-GB" sz="1000" dirty="0" err="1"/>
              <a:t>hase</a:t>
            </a:r>
            <a:r>
              <a:rPr lang="en-GB" sz="1000" dirty="0"/>
              <a:t>-Locked Loops (PLLs) and Frequency Synthesizers</a:t>
            </a:r>
            <a:endParaRPr sz="1000" spc="-10" dirty="0"/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GB" sz="1000" dirty="0"/>
              <a:t>Low-Power Analog Signal Processing</a:t>
            </a:r>
            <a:endParaRPr sz="1000" spc="-4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32430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642461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80" y="1831053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848" y="2248398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9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932" y="1118994"/>
            <a:ext cx="3848100" cy="1339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lang="en-GB" sz="1000" dirty="0"/>
              <a:t>The </a:t>
            </a:r>
            <a:r>
              <a:rPr lang="en-GB" sz="1000" b="1" dirty="0"/>
              <a:t>Telescopic CMOS OTA</a:t>
            </a:r>
            <a:r>
              <a:rPr lang="en-GB" sz="1000" dirty="0"/>
              <a:t> is a compact, high-gain, and low-power amplifier ideal for </a:t>
            </a:r>
            <a:r>
              <a:rPr lang="en-GB" sz="1000" dirty="0" err="1"/>
              <a:t>analog</a:t>
            </a:r>
            <a:r>
              <a:rPr lang="en-GB" sz="1000" dirty="0"/>
              <a:t> applications where speed and efficiency are critical. While it offers excellent gain and bandwidth due to its </a:t>
            </a:r>
            <a:r>
              <a:rPr lang="en-GB" sz="1000" dirty="0" err="1"/>
              <a:t>cascode</a:t>
            </a:r>
            <a:r>
              <a:rPr lang="en-GB" sz="1000" dirty="0"/>
              <a:t> structure, its use is best suited to designs where limited output swing and common-mode range are acceptable. Overall, it remains a powerful choice in integrated </a:t>
            </a:r>
            <a:r>
              <a:rPr lang="en-GB" sz="1000" dirty="0" err="1"/>
              <a:t>analog</a:t>
            </a:r>
            <a:r>
              <a:rPr lang="en-GB" sz="1000" dirty="0"/>
              <a:t> design for low-voltage, high-performance systems.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10</a:t>
            </a:fld>
            <a:r>
              <a:rPr spc="-90"/>
              <a:t> </a:t>
            </a:r>
            <a:r>
              <a:rPr spc="90"/>
              <a:t>/</a:t>
            </a:r>
            <a:r>
              <a:rPr spc="-90"/>
              <a:t> </a:t>
            </a:r>
            <a:r>
              <a:rPr spc="-35"/>
              <a:t>10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603</Words>
  <Application>Microsoft Office PowerPoint</Application>
  <PresentationFormat>Custom</PresentationFormat>
  <Paragraphs>74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Design and Analysis of a Telescopic OTA </vt:lpstr>
      <vt:lpstr>Introduction</vt:lpstr>
      <vt:lpstr>Objectives</vt:lpstr>
      <vt:lpstr>PowerPoint Presentation</vt:lpstr>
      <vt:lpstr>Circuit Diagram</vt:lpstr>
      <vt:lpstr>Working Principle</vt:lpstr>
      <vt:lpstr>Design </vt:lpstr>
      <vt:lpstr>Results</vt:lpstr>
      <vt:lpstr>Applications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 Telescopic OTA</dc:title>
  <dc:creator>e3t</dc:creator>
  <cp:lastModifiedBy>KARTHIK K PRASAD</cp:lastModifiedBy>
  <cp:revision>9</cp:revision>
  <dcterms:created xsi:type="dcterms:W3CDTF">2025-05-09T14:46:54Z</dcterms:created>
  <dcterms:modified xsi:type="dcterms:W3CDTF">2025-05-10T09:28:36Z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2025-05-09T00:00:00Z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(20220710)</vt:lpwstr>
  </property>
  <property fmtid="{D5CDD505-2E9C-101B-9397-08002B2CF9AE}" pid="5" name="LastSaved">
    <vt:filetime>2025-05-09T00:00:00Z</vt:filetime>
  </property>
</Properties>
</file>